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4F46E5"/>
            </a:solidFill>
          </c:spPr>
          <c:dPt>
            <c:idx val="0"/>
            <c:spPr>
              <a:solidFill>
                <a:srgbClr val="DC2626"/>
              </a:solidFill>
              <a:ln>
                <a:noFill/>
              </a:ln>
            </c:spPr>
          </c:dPt>
          <c:dPt>
            <c:idx val="1"/>
            <c:spPr>
              <a:solidFill>
                <a:srgbClr val="D97706"/>
              </a:solidFill>
              <a:ln>
                <a:noFill/>
              </a:ln>
            </c:spPr>
          </c:dPt>
          <c:dPt>
            <c:idx val="2"/>
            <c:spPr>
              <a:solidFill>
                <a:srgbClr val="2563EB"/>
              </a:solidFill>
              <a:ln>
                <a:noFill/>
              </a:ln>
            </c:spPr>
          </c:dPt>
          <c:dPt>
            <c:idx val="3"/>
            <c:spPr>
              <a:solidFill>
                <a:srgbClr val="4F46E5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Phished</c:v>
                </c:pt>
                <c:pt idx="1">
                  <c:v>Clicked</c:v>
                </c:pt>
                <c:pt idx="2">
                  <c:v>Opened</c:v>
                </c:pt>
                <c:pt idx="3">
                  <c:v>Sent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7</c:v>
                </c:pt>
                <c:pt idx="3">
                  <c:v>8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0D14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47556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4F46E5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D97706"/>
              </a:solidFill>
            </c:spPr>
          </c:dPt>
          <c:dPt>
            <c:idx val="3"/>
            <c:spPr>
              <a:solidFill>
                <a:srgbClr val="DC2626"/>
              </a:solidFill>
            </c:spPr>
          </c:dPt>
          <c:dPt>
            <c:idx val="4"/>
            <c:spPr>
              <a:solidFill>
                <a:srgbClr val="059669"/>
              </a:solidFill>
            </c:spPr>
          </c:dPt>
          <c:cat>
            <c:strRef>
              <c:f>Sheet1!$A$2:$A$6</c:f>
              <c:strCache>
                <c:ptCount val="5"/>
                <c:pt idx="0">
                  <c:v>Sent</c:v>
                </c:pt>
                <c:pt idx="1">
                  <c:v>Opened</c:v>
                </c:pt>
                <c:pt idx="2">
                  <c:v>Clicked</c:v>
                </c:pt>
                <c:pt idx="3">
                  <c:v>Phished</c:v>
                </c:pt>
                <c:pt idx="4">
                  <c:v>Reported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13</c:v>
                </c:pt>
                <c:pt idx="2">
                  <c:v>5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0D14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7680960" y="-1005840"/>
            <a:ext cx="6035040" cy="6035040"/>
          </a:xfrm>
          <a:prstGeom prst="ellipse">
            <a:avLst/>
          </a:prstGeom>
          <a:solidFill>
            <a:srgbClr val="1A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966960" y="2286000"/>
            <a:ext cx="4206240" cy="4206240"/>
          </a:xfrm>
          <a:prstGeom prst="ellipse">
            <a:avLst/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A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58368" y="96926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10881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Segoe UI"/>
              </a:rPr>
              <a:t>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1033271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PhishStudy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00">
                <a:solidFill>
                  <a:srgbClr val="A5B4FC"/>
                </a:solidFill>
                <a:latin typeface="Segoe UI"/>
              </a:rPr>
              <a:t>MINI PROJECT  ·  CYBER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04288"/>
            <a:ext cx="9509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Phishing Susceptibility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310128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6C2D9"/>
                </a:solidFill>
                <a:latin typeface="Segoe UI"/>
              </a:rPr>
              <a:t>A simulated phishing campaign to measure and improve employee awareness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041648"/>
            <a:ext cx="2926080" cy="274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4279392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Measure it.  Train it.  Report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828032"/>
            <a:ext cx="1868119" cy="310896"/>
          </a:xfrm>
          <a:prstGeom prst="roundRect">
            <a:avLst>
              <a:gd name="adj" fmla="val 50000"/>
            </a:avLst>
          </a:prstGeom>
          <a:solidFill>
            <a:srgbClr val="0B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4869180"/>
            <a:ext cx="18681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EF0C0"/>
                </a:solidFill>
                <a:latin typeface="Segoe UI"/>
              </a:rPr>
              <a:t>Safe local simulation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4503" y="4828032"/>
            <a:ext cx="1564538" cy="310896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654503" y="4869180"/>
            <a:ext cx="156453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7D2FE"/>
                </a:solidFill>
                <a:latin typeface="Segoe UI"/>
              </a:rPr>
              <a:t>Zero installation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7057" y="4828032"/>
            <a:ext cx="2551176" cy="310896"/>
          </a:xfrm>
          <a:prstGeom prst="roundRect">
            <a:avLst>
              <a:gd name="adj" fmla="val 50000"/>
            </a:avLst>
          </a:prstGeom>
          <a:solidFill>
            <a:srgbClr val="3B2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47057" y="4869180"/>
            <a:ext cx="25511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EE99B"/>
                </a:solidFill>
                <a:latin typeface="Segoe UI"/>
              </a:rPr>
              <a:t>Tracks click → submit →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742432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5B4FC"/>
                </a:solidFill>
                <a:latin typeface="Segoe UI"/>
              </a:rPr>
              <a:t>GROUP NO. 2</a:t>
            </a:r>
          </a:p>
          <a:p>
            <a:pPr algn="l">
              <a:lnSpc>
                <a:spcPct val="124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Segoe UI"/>
              </a:rPr>
              <a:t>Shetty Vikyath Vishwanath   ·   Mehtar Aman Yasin   ·   Singh Yash Anil   ·   Singh Abhishek Shailesh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8AA3"/>
                </a:solidFill>
                <a:latin typeface="Segoe UI"/>
              </a:rPr>
              <a:t>8 October 2026   ·   Demonstration:  python3 app.py  →  http://127.0.0.1:8000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6636"/>
            <a:ext cx="173736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4F46E5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424"/>
                </a:solidFill>
                <a:latin typeface="Segoe UI"/>
              </a:rPr>
              <a:t>Why phishing, and why study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9352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Phishing is the cheapest way for an attacker to get a valid password — so it remains the #1 entry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2540431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2112264"/>
            <a:ext cx="50292" cy="1188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2185415"/>
            <a:ext cx="2083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OF BREACHES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459736"/>
            <a:ext cx="208323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C2626"/>
                </a:solidFill>
                <a:latin typeface="Segoe UI"/>
              </a:rPr>
              <a:t>~90%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990088"/>
            <a:ext cx="2083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begin with a phishing or stolen-credential incident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6543" y="1965960"/>
            <a:ext cx="2540431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436543" y="2112264"/>
            <a:ext cx="50292" cy="1188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29151" y="2185415"/>
            <a:ext cx="2083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EMPLOYEES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9151" y="2459736"/>
            <a:ext cx="208323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97706"/>
                </a:solidFill>
                <a:latin typeface="Segoe UI"/>
              </a:rPr>
              <a:t>1 in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9151" y="2990088"/>
            <a:ext cx="2083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click a simulated phishing link in testing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4719" y="1965960"/>
            <a:ext cx="2540431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14719" y="2112264"/>
            <a:ext cx="50292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07327" y="2185415"/>
            <a:ext cx="2083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= FULL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2459736"/>
            <a:ext cx="208323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4F46E5"/>
                </a:solidFill>
                <a:latin typeface="Segoe UI"/>
              </a:rPr>
              <a:t>1 click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2990088"/>
            <a:ext cx="2083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an attacker reuses that password everywhere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2895" y="1965960"/>
            <a:ext cx="2540431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992895" y="2112264"/>
            <a:ext cx="50292" cy="1188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85503" y="2185415"/>
            <a:ext cx="2083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FIXES THIS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5503" y="2459736"/>
            <a:ext cx="208323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59669"/>
                </a:solidFill>
                <a:latin typeface="Segoe UI"/>
              </a:rPr>
              <a:t>0 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5503" y="2990088"/>
            <a:ext cx="2083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awareness is the only control that always works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712463"/>
            <a:ext cx="5274355" cy="22128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50976" y="3950208"/>
            <a:ext cx="420624" cy="420624"/>
          </a:xfrm>
          <a:prstGeom prst="ellipse">
            <a:avLst/>
          </a:prstGeom>
          <a:solidFill>
            <a:srgbClr val="E7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50976" y="405115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1424"/>
                </a:solidFill>
                <a:latin typeface="Segoe UI"/>
              </a:rPr>
              <a:t>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17904" y="3986784"/>
            <a:ext cx="43499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D1424"/>
                </a:solidFill>
                <a:latin typeface="Segoe UI"/>
              </a:rPr>
              <a:t>Why we cannot just send real phish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4553712"/>
            <a:ext cx="468913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Sending real phishing to real people is dangerous, unethical and usually illegal without written consent. It can expose genuine credentials, damage trust and breach privacy law.</a:t>
            </a:r>
          </a:p>
          <a:p>
            <a:pPr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0D1424"/>
                </a:solidFill>
                <a:latin typeface="Segoe UI"/>
              </a:rPr>
              <a:t>So we built a controlled simulation instead: realistic attacks, fictional employees, zero real risk.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8971" y="3712463"/>
            <a:ext cx="5274355" cy="2212848"/>
          </a:xfrm>
          <a:prstGeom prst="roundRect">
            <a:avLst>
              <a:gd name="adj" fmla="val 4500"/>
            </a:avLst>
          </a:prstGeom>
          <a:solidFill>
            <a:srgbClr val="EEF0FF"/>
          </a:solidFill>
          <a:ln w="12700">
            <a:solidFill>
              <a:srgbClr val="D5D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6551579" y="3950208"/>
            <a:ext cx="420624" cy="420624"/>
          </a:xfrm>
          <a:prstGeom prst="ellipse">
            <a:avLst/>
          </a:prstGeom>
          <a:solidFill>
            <a:srgbClr val="D5D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51579" y="405115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12E81"/>
                </a:solidFill>
                <a:latin typeface="Segoe UI"/>
              </a:rPr>
              <a:t>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8507" y="3986784"/>
            <a:ext cx="43499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D1424"/>
                </a:solidFill>
                <a:latin typeface="Segoe UI"/>
              </a:rPr>
              <a:t>What a simulation gives 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1579" y="4553712"/>
            <a:ext cx="468913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✓   A measurable baseline instead of guesswork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✓   Repeatable, safe and free of legal risk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✓   Immediate, blame-free training feedback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✓   Proof that training actually reduces risk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36792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6428232"/>
            <a:ext cx="103263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Phishing Susceptibility Study  ·  Group No. 2  ·  Cyber Security Mini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84687" y="64282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6636"/>
            <a:ext cx="173736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4F46E5"/>
                </a:solidFill>
                <a:latin typeface="Segoe U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424"/>
                </a:solidFill>
                <a:latin typeface="Segoe UI"/>
              </a:rPr>
              <a:t>What our project set out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9352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Four measurable goals — each one visible in the application during the demo.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38528"/>
            <a:ext cx="5282031" cy="1609344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14400" y="2194560"/>
            <a:ext cx="384048" cy="384048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286731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2212848"/>
            <a:ext cx="42304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D1424"/>
                </a:solidFill>
                <a:latin typeface="Segoe UI"/>
              </a:rPr>
              <a:t>Simulate realistic phishing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61488"/>
            <a:ext cx="47333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Three templates at increasing difficulty: IT password expiry (Easy), HR festival bonus (Medium) and a Microsoft 365 sign-in alert (Hard). None of them leave the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1295" y="1938528"/>
            <a:ext cx="5282031" cy="1609344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507327" y="2194560"/>
            <a:ext cx="384048" cy="384048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07327" y="2286731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7706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8535" y="2212848"/>
            <a:ext cx="42304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D1424"/>
                </a:solidFill>
                <a:latin typeface="Segoe UI"/>
              </a:rPr>
              <a:t>Measure susceptibility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5615" y="2761488"/>
            <a:ext cx="47333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Track the whole funnel per employee: sent → opened → clicked → submitted credentials → reported. Split by department and by template.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85616"/>
            <a:ext cx="5282031" cy="1609344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4041648"/>
            <a:ext cx="384048" cy="384048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413381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4059936"/>
            <a:ext cx="42304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D1424"/>
                </a:solidFill>
                <a:latin typeface="Segoe UI"/>
              </a:rPr>
              <a:t>Show risk in plain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608576"/>
            <a:ext cx="47333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Every campaign produces a submission rate, a reporting rate and a plain-English insight, so a non-technical manager can act on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1295" y="3785616"/>
            <a:ext cx="5282031" cy="1609344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507327" y="4041648"/>
            <a:ext cx="384048" cy="384048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07327" y="413381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C2626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8535" y="4059936"/>
            <a:ext cx="42304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D1424"/>
                </a:solidFill>
                <a:latin typeface="Segoe UI"/>
              </a:rPr>
              <a:t>Train immediately, then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5615" y="4608576"/>
            <a:ext cx="47333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Falling for the phish opens instant red-flag coaching; reporting one reinforces the habit. A five-question quiz scores whether training stuck.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04688"/>
            <a:ext cx="10874959" cy="731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87552" y="5669280"/>
            <a:ext cx="102165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D1424"/>
                </a:solidFill>
                <a:latin typeface="Segoe UI"/>
              </a:rPr>
              <a:t>Success = fewer people submit credentials, and more people report the mail.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336792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6428232"/>
            <a:ext cx="103263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Phishing Susceptibility Study  ·  Group No. 2  ·  Cyber Security Mini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84687" y="64282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6636"/>
            <a:ext cx="173736" cy="502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DC2626"/>
                </a:solidFill>
                <a:latin typeface="Segoe UI"/>
              </a:rPr>
              <a:t>WHAT THE APP TEACHES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424"/>
                </a:solidFill>
                <a:latin typeface="Segoe UI"/>
              </a:rPr>
              <a:t>Five red flags in every simulated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9352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Students learn to spot these before clicking anything. Hover, read the domain, then 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56816"/>
            <a:ext cx="2028687" cy="22128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32688" y="2212848"/>
            <a:ext cx="457200" cy="457200"/>
          </a:xfrm>
          <a:prstGeom prst="ellipse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C2626"/>
                </a:solidFill>
                <a:latin typeface="Segoe UI"/>
              </a:rPr>
              <a:t>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98064"/>
            <a:ext cx="14800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1424"/>
                </a:solidFill>
                <a:latin typeface="Segoe UI"/>
              </a:rPr>
              <a:t>Sender domain 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01568"/>
            <a:ext cx="1480047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The domain is outside the organisation — or deliberately misspelled.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9935" y="1956816"/>
            <a:ext cx="2028687" cy="22128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144255" y="2212848"/>
            <a:ext cx="457200" cy="457200"/>
          </a:xfrm>
          <a:prstGeom prst="ellipse">
            <a:avLst/>
          </a:prstGeom>
          <a:solidFill>
            <a:srgbClr val="F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144255" y="23225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Segoe UI"/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4255" y="2798064"/>
            <a:ext cx="14800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1424"/>
                </a:solidFill>
                <a:latin typeface="Segoe UI"/>
              </a:rPr>
              <a:t>Manufactured urgency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4255" y="3401568"/>
            <a:ext cx="1480047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 deadline or a threat exists purely to stop you thinking.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1503" y="1956816"/>
            <a:ext cx="2028687" cy="22128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355823" y="2212848"/>
            <a:ext cx="457200" cy="457200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55823" y="23225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F46E5"/>
                </a:solidFill>
                <a:latin typeface="Segoe UI"/>
              </a:rPr>
              <a:t>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5823" y="2798064"/>
            <a:ext cx="14800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1424"/>
                </a:solidFill>
                <a:latin typeface="Segoe UI"/>
              </a:rPr>
              <a:t>Too good to be 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5823" y="3401568"/>
            <a:ext cx="1480047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An unearned prize or reward is the most classic lure of all.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071" y="1956816"/>
            <a:ext cx="2028687" cy="22128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567391" y="2212848"/>
            <a:ext cx="457200" cy="457200"/>
          </a:xfrm>
          <a:prstGeom prst="ellipse">
            <a:avLst/>
          </a:prstGeom>
          <a:solidFill>
            <a:srgbClr val="E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67391" y="23225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59669"/>
                </a:solidFill>
                <a:latin typeface="Segoe UI"/>
              </a:rPr>
              <a:t>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391" y="2798064"/>
            <a:ext cx="14800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1424"/>
                </a:solidFill>
                <a:latin typeface="Segoe UI"/>
              </a:rPr>
              <a:t>Link ≠ 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7391" y="3401568"/>
            <a:ext cx="1480047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The button label and the real destination are not the same place.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4639" y="1956816"/>
            <a:ext cx="2028687" cy="22128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778959" y="2212848"/>
            <a:ext cx="457200" cy="457200"/>
          </a:xfrm>
          <a:prstGeom prst="ellipse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778959" y="23225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C2626"/>
                </a:solidFill>
                <a:latin typeface="Segoe UI"/>
              </a:rPr>
              <a:t>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78959" y="2798064"/>
            <a:ext cx="14800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1424"/>
                </a:solidFill>
                <a:latin typeface="Segoe UI"/>
              </a:rPr>
              <a:t>Wants your secrets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8959" y="3401568"/>
            <a:ext cx="1480047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No real IT team or vendor asks for a password or OTP by email.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34256"/>
            <a:ext cx="10874959" cy="177393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87552" y="4535424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DC2626"/>
                </a:solidFill>
                <a:latin typeface="Segoe UI"/>
              </a:rPr>
              <a:t>LIVE EXAMPLE FROM THE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482803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C2626"/>
                </a:solidFill>
                <a:latin typeface="Consolas"/>
              </a:rPr>
              <a:t>no-reply@micorsoft-secure-auth.com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5230368"/>
            <a:ext cx="56692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Reads like Microsoft. Attacks the eye, not the mind — people see the logo and the word “Microsoft” and stop reading the domain carefully.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13448" y="4572000"/>
            <a:ext cx="25603" cy="12984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333488" y="4553712"/>
            <a:ext cx="3834079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1424"/>
                </a:solidFill>
                <a:latin typeface="Segoe UI"/>
              </a:rPr>
              <a:t>The correct response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→   Read the domain letter by letter</a:t>
            </a:r>
          </a:p>
          <a:p>
            <a:pPr algn="l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→   Hover the link and read the real URL</a:t>
            </a:r>
          </a:p>
          <a:p>
            <a:pPr algn="l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→   Open the official site yourself</a:t>
            </a:r>
          </a:p>
          <a:p>
            <a:pPr algn="l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→   Report it — never silently delete 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336792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8368" y="6428232"/>
            <a:ext cx="103263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Phishing Susceptibility Study  ·  Group No. 2  ·  Cyber Security Mini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84687" y="64282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6636"/>
            <a:ext cx="173736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4F46E5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424"/>
                </a:solidFill>
                <a:latin typeface="Segoe UI"/>
              </a:rPr>
              <a:t>PhishStudy — what we actually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9352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One Python file, zero dependencies. It runs offline on any laptop, which is why it demos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56816"/>
            <a:ext cx="2264719" cy="1225296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2084832"/>
            <a:ext cx="45720" cy="9692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17892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1424"/>
                </a:solidFill>
                <a:latin typeface="Segoe UI"/>
              </a:rPr>
              <a:t>Admin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05456"/>
            <a:ext cx="17892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Launch a campaign from a template, add employees, watch KPIs move live.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24255" y="1956816"/>
            <a:ext cx="2264719" cy="1225296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24255" y="2084832"/>
            <a:ext cx="45720" cy="9692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80287" y="2176272"/>
            <a:ext cx="17892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1424"/>
                </a:solidFill>
                <a:latin typeface="Segoe UI"/>
              </a:rPr>
              <a:t>Fake employee inbox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0287" y="2505456"/>
            <a:ext cx="17892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Phishing and genuine mail mixed, so staff must discriminate.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64992"/>
            <a:ext cx="2264719" cy="1225296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58368" y="3493008"/>
            <a:ext cx="45720" cy="9692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584448"/>
            <a:ext cx="17892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1424"/>
                </a:solidFill>
                <a:latin typeface="Segoe UI"/>
              </a:rPr>
              <a:t>Fake login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13632"/>
            <a:ext cx="17892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 realistic SSO screen that records the credential submission.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24255" y="3364992"/>
            <a:ext cx="2264719" cy="1225296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24255" y="3493008"/>
            <a:ext cx="45720" cy="9692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380287" y="3584448"/>
            <a:ext cx="17892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1424"/>
                </a:solidFill>
                <a:latin typeface="Segoe UI"/>
              </a:rPr>
              <a:t>Instant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0287" y="3913632"/>
            <a:ext cx="17892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Red-flag coaching on failure, praise on reporting, scored quiz.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26864"/>
            <a:ext cx="4730607" cy="1298448"/>
          </a:xfrm>
          <a:prstGeom prst="roundRect">
            <a:avLst>
              <a:gd name="adj" fmla="val 4500"/>
            </a:avLst>
          </a:prstGeom>
          <a:solidFill>
            <a:srgbClr val="0D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791456"/>
            <a:ext cx="41088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5B4FC"/>
                </a:solidFill>
                <a:latin typeface="Segoe UI"/>
              </a:rPr>
              <a:t>BUILT WITH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Python 3 standard library only — http.server + sqlite3. No pip install, no internet, no database server.</a:t>
            </a:r>
          </a:p>
          <a:p>
            <a:pPr algn="l">
              <a:lnSpc>
                <a:spcPct val="124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A5B4FC"/>
                </a:solidFill>
                <a:latin typeface="Consolas"/>
              </a:rPr>
              <a:t>python3 app.py  →  http://127.0.0.1:8000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3295" y="1956816"/>
            <a:ext cx="5870031" cy="431570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663295" y="1956816"/>
            <a:ext cx="5870031" cy="310896"/>
          </a:xfrm>
          <a:prstGeom prst="roundRect">
            <a:avLst>
              <a:gd name="adj" fmla="val 16000"/>
            </a:avLst>
          </a:prstGeom>
          <a:solidFill>
            <a:srgbClr val="0D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3295" y="2139696"/>
            <a:ext cx="5870031" cy="128016"/>
          </a:xfrm>
          <a:prstGeom prst="rect">
            <a:avLst/>
          </a:prstGeom>
          <a:solidFill>
            <a:srgbClr val="0D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5809599" y="206197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5983335" y="206197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157071" y="206197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321663" y="2025396"/>
            <a:ext cx="2465413" cy="173736"/>
          </a:xfrm>
          <a:prstGeom prst="roundRect">
            <a:avLst>
              <a:gd name="adj" fmla="val 50000"/>
            </a:avLst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21663" y="2043684"/>
            <a:ext cx="24654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8B0"/>
                </a:solidFill>
                <a:latin typeface="Segoe UI"/>
              </a:rPr>
              <a:t>127.0.0.1:8000</a:t>
            </a:r>
          </a:p>
        </p:txBody>
      </p:sp>
      <p:pic>
        <p:nvPicPr>
          <p:cNvPr id="32" name="Picture 31" descr="phishshot_84390952820425752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591" y="2340864"/>
            <a:ext cx="5705439" cy="35658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18159" y="5961627"/>
            <a:ext cx="57603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Admin console — campaign funnel, outcome breakdown, per-department and per-employee results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6336792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8368" y="6428232"/>
            <a:ext cx="103263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Phishing Susceptibility Study  ·  Group No. 2  ·  Cyber Security Mini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84687" y="64282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6636"/>
            <a:ext cx="173736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4F46E5"/>
                </a:solidFill>
                <a:latin typeface="Segoe UI"/>
              </a:rPr>
              <a:t>INSIDE THE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424"/>
                </a:solidFill>
                <a:latin typeface="Segoe UI"/>
              </a:rPr>
              <a:t>What the employee actually sees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9352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Three real screens from the demo. Every one of them is recorded, and none of them can reach a real inbox.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0195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194310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46E5"/>
                </a:solidFill>
                <a:latin typeface="Segoe UI"/>
              </a:rPr>
              <a:t>1  ·  THE BAIT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3466490" cy="3032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58368" y="2286000"/>
            <a:ext cx="3466490" cy="310896"/>
          </a:xfrm>
          <a:prstGeom prst="roundRect">
            <a:avLst>
              <a:gd name="adj" fmla="val 16000"/>
            </a:avLst>
          </a:prstGeom>
          <a:solidFill>
            <a:srgbClr val="0D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8368" y="2468880"/>
            <a:ext cx="3466490" cy="128016"/>
          </a:xfrm>
          <a:prstGeom prst="rect">
            <a:avLst/>
          </a:prstGeom>
          <a:solidFill>
            <a:srgbClr val="0D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04672" y="2391156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391156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52144" y="2391156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316736" y="2354580"/>
            <a:ext cx="1455925" cy="173736"/>
          </a:xfrm>
          <a:prstGeom prst="roundRect">
            <a:avLst>
              <a:gd name="adj" fmla="val 50000"/>
            </a:avLst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16736" y="2372868"/>
            <a:ext cx="14559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8B0"/>
                </a:solidFill>
                <a:latin typeface="Segoe UI"/>
              </a:rPr>
              <a:t>127.0.0.1:8000</a:t>
            </a:r>
          </a:p>
        </p:txBody>
      </p:sp>
      <p:pic>
        <p:nvPicPr>
          <p:cNvPr id="16" name="Picture 15" descr="phishshot_63969544183581389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670048"/>
            <a:ext cx="3301898" cy="26488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522976"/>
            <a:ext cx="346649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A realistic mail with a fake sender domain and a deadline. The open itself is logged.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2602" y="190195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62602" y="194310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C2626"/>
                </a:solidFill>
                <a:latin typeface="Segoe UI"/>
              </a:rPr>
              <a:t>2  ·  THE TRAP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2602" y="2286000"/>
            <a:ext cx="3466490" cy="3032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4362602" y="2286000"/>
            <a:ext cx="3466490" cy="310896"/>
          </a:xfrm>
          <a:prstGeom prst="roundRect">
            <a:avLst>
              <a:gd name="adj" fmla="val 16000"/>
            </a:avLst>
          </a:prstGeom>
          <a:solidFill>
            <a:srgbClr val="0D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362602" y="2468880"/>
            <a:ext cx="3466490" cy="128016"/>
          </a:xfrm>
          <a:prstGeom prst="rect">
            <a:avLst/>
          </a:prstGeom>
          <a:solidFill>
            <a:srgbClr val="0D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08906" y="2391156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4682642" y="2391156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856378" y="2391156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020970" y="2354580"/>
            <a:ext cx="1455925" cy="173736"/>
          </a:xfrm>
          <a:prstGeom prst="roundRect">
            <a:avLst>
              <a:gd name="adj" fmla="val 50000"/>
            </a:avLst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20970" y="2372868"/>
            <a:ext cx="14559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8B0"/>
                </a:solidFill>
                <a:latin typeface="Segoe UI"/>
              </a:rPr>
              <a:t>127.0.0.1:8000</a:t>
            </a:r>
          </a:p>
        </p:txBody>
      </p:sp>
      <p:pic>
        <p:nvPicPr>
          <p:cNvPr id="28" name="Picture 27" descr="phishshot_18339613006292057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898" y="2670048"/>
            <a:ext cx="3301898" cy="26488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62602" y="5522976"/>
            <a:ext cx="346649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A convincing SSO page on localhost. The click and any submitted field are logged.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6836" y="190195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066836" y="194310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59669"/>
                </a:solidFill>
                <a:latin typeface="Segoe UI"/>
              </a:rPr>
              <a:t>3  ·  THE LESSON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6836" y="2286000"/>
            <a:ext cx="3466490" cy="3035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066836" y="2286000"/>
            <a:ext cx="3466490" cy="310896"/>
          </a:xfrm>
          <a:prstGeom prst="roundRect">
            <a:avLst>
              <a:gd name="adj" fmla="val 16000"/>
            </a:avLst>
          </a:prstGeom>
          <a:solidFill>
            <a:srgbClr val="0D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066836" y="2468880"/>
            <a:ext cx="3466490" cy="128016"/>
          </a:xfrm>
          <a:prstGeom prst="rect">
            <a:avLst/>
          </a:prstGeom>
          <a:solidFill>
            <a:srgbClr val="0D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213140" y="2391156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386876" y="2391156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560612" y="2391156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8725204" y="2354580"/>
            <a:ext cx="1455925" cy="173736"/>
          </a:xfrm>
          <a:prstGeom prst="roundRect">
            <a:avLst>
              <a:gd name="adj" fmla="val 50000"/>
            </a:avLst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725204" y="2372868"/>
            <a:ext cx="14559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8B0"/>
                </a:solidFill>
                <a:latin typeface="Segoe UI"/>
              </a:rPr>
              <a:t>127.0.0.1:8000</a:t>
            </a:r>
          </a:p>
        </p:txBody>
      </p:sp>
      <p:pic>
        <p:nvPicPr>
          <p:cNvPr id="40" name="Picture 39" descr="phishshot_57970111921053286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132" y="2670048"/>
            <a:ext cx="3301898" cy="26514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066836" y="5522976"/>
            <a:ext cx="346649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Instant coaching names each red flag they missed, then sends them to the quiz.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36792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58368" y="6428232"/>
            <a:ext cx="103263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Phishing Susceptibility Study  ·  Group No. 2  ·  Cyber Security Mini Project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84687" y="64282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6636"/>
            <a:ext cx="173736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4F46E5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424"/>
                </a:solidFill>
                <a:latin typeface="Segoe UI"/>
              </a:rPr>
              <a:t>The 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9352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This is exactly the path we will click through during the live demonstration.</a:t>
            </a:r>
          </a:p>
        </p:txBody>
      </p:sp>
      <p:sp>
        <p:nvSpPr>
          <p:cNvPr id="6" name="Chevron 5"/>
          <p:cNvSpPr/>
          <p:nvPr/>
        </p:nvSpPr>
        <p:spPr>
          <a:xfrm>
            <a:off x="658368" y="2011680"/>
            <a:ext cx="2057948" cy="566928"/>
          </a:xfrm>
          <a:prstGeom prst="chevron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761488"/>
            <a:ext cx="178362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Admin picks a template and sends it to every employee</a:t>
            </a:r>
          </a:p>
        </p:txBody>
      </p:sp>
      <p:sp>
        <p:nvSpPr>
          <p:cNvPr id="8" name="Chevron 7"/>
          <p:cNvSpPr/>
          <p:nvPr/>
        </p:nvSpPr>
        <p:spPr>
          <a:xfrm>
            <a:off x="2862620" y="2011680"/>
            <a:ext cx="2057948" cy="566928"/>
          </a:xfrm>
          <a:prstGeom prst="chevron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RECEIVE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2348" y="2761488"/>
            <a:ext cx="178362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Each employee gets a tracked mail in their fake inbox</a:t>
            </a:r>
          </a:p>
        </p:txBody>
      </p:sp>
      <p:sp>
        <p:nvSpPr>
          <p:cNvPr id="10" name="Chevron 9"/>
          <p:cNvSpPr/>
          <p:nvPr/>
        </p:nvSpPr>
        <p:spPr>
          <a:xfrm>
            <a:off x="5066873" y="2011680"/>
            <a:ext cx="2057948" cy="566928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6601" y="2761488"/>
            <a:ext cx="178362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They open, click, submit or report — every step timestamped</a:t>
            </a:r>
          </a:p>
        </p:txBody>
      </p:sp>
      <p:sp>
        <p:nvSpPr>
          <p:cNvPr id="12" name="Chevron 11"/>
          <p:cNvSpPr/>
          <p:nvPr/>
        </p:nvSpPr>
        <p:spPr>
          <a:xfrm>
            <a:off x="7271125" y="2011680"/>
            <a:ext cx="2057948" cy="566928"/>
          </a:xfrm>
          <a:prstGeom prst="chevron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0853" y="2761488"/>
            <a:ext cx="178362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Dashboard recomputes rates and flags the highest-risk group</a:t>
            </a:r>
          </a:p>
        </p:txBody>
      </p:sp>
      <p:sp>
        <p:nvSpPr>
          <p:cNvPr id="14" name="Chevron 13"/>
          <p:cNvSpPr/>
          <p:nvPr/>
        </p:nvSpPr>
        <p:spPr>
          <a:xfrm>
            <a:off x="9475378" y="2011680"/>
            <a:ext cx="2057948" cy="566928"/>
          </a:xfrm>
          <a:prstGeom prst="chevron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5106" y="2761488"/>
            <a:ext cx="178362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Instant coaching, then a quiz whose score proves it worked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931920"/>
            <a:ext cx="10874959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114800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4F46E5"/>
                </a:solidFill>
                <a:latin typeface="Segoe UI"/>
              </a:rPr>
              <a:t>THE DEMONSTRATION 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462272"/>
            <a:ext cx="565497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1.   Open the Employee Inbox and choose any employee identity</a:t>
            </a:r>
          </a:p>
          <a:p>
            <a:pPr algn="l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2.   Open the phishing mail and follow the link</a:t>
            </a:r>
          </a:p>
          <a:p>
            <a:pPr algn="l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3.   Type any fake credentials on the login page</a:t>
            </a:r>
          </a:p>
          <a:p>
            <a:pPr algn="l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4.   Read the instant red-flag coaching screen</a:t>
            </a:r>
          </a:p>
          <a:p>
            <a:pPr algn="l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5.   Return to the dashboard — the rates have moved</a:t>
            </a:r>
          </a:p>
          <a:p>
            <a:pPr algn="l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6.   Report a second mail, then take the quiz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219" y="4187952"/>
            <a:ext cx="25603" cy="16093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55217" y="4169663"/>
            <a:ext cx="3588736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1424"/>
                </a:solidFill>
                <a:latin typeface="Segoe UI"/>
              </a:rPr>
              <a:t>Total demo time: 2 minutes</a:t>
            </a:r>
          </a:p>
          <a:p>
            <a:pPr algn="l">
              <a:lnSpc>
                <a:spcPct val="13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Undergraduate project, no external network access, no real credentials and no real email delivery required — so it runs on any classroom laptop.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336792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6428232"/>
            <a:ext cx="103263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Phishing Susceptibility Study  ·  Group No. 2  ·  Cyber Security Mini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84687" y="64282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6636"/>
            <a:ext cx="173736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4F46E5"/>
                </a:solidFill>
                <a:latin typeface="Segoe U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424"/>
                </a:solidFill>
                <a:latin typeface="Segoe UI"/>
              </a:rPr>
              <a:t>How we measure susceptibility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9352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Four rates, one funnel. The submission rate is the number that actually matters to a security team.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56816"/>
            <a:ext cx="2554147" cy="1426464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58368" y="1956816"/>
            <a:ext cx="2554147" cy="5486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15798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424"/>
                </a:solidFill>
                <a:latin typeface="Segoe UI"/>
              </a:rPr>
              <a:t>Open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20420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onsolas"/>
              </a:rPr>
              <a:t>opened ÷ 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204208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Was the subject line or sender name convincing enough?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1971" y="1956816"/>
            <a:ext cx="2554147" cy="1426464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431971" y="1956816"/>
            <a:ext cx="2554147" cy="5486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88003" y="215798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424"/>
                </a:solidFill>
                <a:latin typeface="Segoe UI"/>
              </a:rPr>
              <a:t>Click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8003" y="2450592"/>
            <a:ext cx="20420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Consolas"/>
              </a:rPr>
              <a:t>clicked ÷ 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003" y="2761488"/>
            <a:ext cx="204208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Did the lure and the call-to-action work?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5575" y="1956816"/>
            <a:ext cx="2554147" cy="1426464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205575" y="1956816"/>
            <a:ext cx="2554147" cy="5486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61607" y="215798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424"/>
                </a:solidFill>
                <a:latin typeface="Segoe UI"/>
              </a:rPr>
              <a:t>Submission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2450592"/>
            <a:ext cx="20420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Consolas"/>
              </a:rPr>
              <a:t>submitted ÷ 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2761488"/>
            <a:ext cx="204208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KEY METRIC — the account would be fully compromised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179" y="1956816"/>
            <a:ext cx="2554147" cy="1426464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979179" y="1956816"/>
            <a:ext cx="2554147" cy="5486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35211" y="215798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424"/>
                </a:solidFill>
                <a:latin typeface="Segoe UI"/>
              </a:rPr>
              <a:t>Reporting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211" y="2450592"/>
            <a:ext cx="20420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59669"/>
                </a:solidFill>
                <a:latin typeface="Consolas"/>
              </a:rPr>
              <a:t>reported ÷ 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211" y="2761488"/>
            <a:ext cx="204208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Resilience — did they alert IT instead of acting?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602736"/>
            <a:ext cx="6742474" cy="23042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87552" y="3803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Segoe UI"/>
              </a:rPr>
              <a:t>CAMPAIGN FUNNEL — BATCH A (8 EMPLOYEES)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41247" y="4078224"/>
          <a:ext cx="6285274" cy="17007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7672716" y="3602736"/>
            <a:ext cx="3860610" cy="2359152"/>
          </a:xfrm>
          <a:prstGeom prst="roundRect">
            <a:avLst>
              <a:gd name="adj" fmla="val 4500"/>
            </a:avLst>
          </a:prstGeom>
          <a:solidFill>
            <a:srgbClr val="EEF0FF"/>
          </a:solidFill>
          <a:ln w="12700">
            <a:solidFill>
              <a:srgbClr val="D5D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983612" y="3803904"/>
            <a:ext cx="323881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D1424"/>
                </a:solidFill>
                <a:latin typeface="Segoe UI"/>
              </a:rPr>
              <a:t>Reading the funnel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Each step measures a different human decision. The gap between “Clicked” and “Phished” is where training pays off — the employee was curious but still stopped.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The gap between “Clicked” and “Reported” is the culture problem: people engage with phish instead of warning the IT team.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336792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6428232"/>
            <a:ext cx="103263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Phishing Susceptibility Study  ·  Group No. 2  ·  Cyber Security Mini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84687" y="64282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6636"/>
            <a:ext cx="173736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4F46E5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424"/>
                </a:solidFill>
                <a:latin typeface="Segoe UI"/>
              </a:rPr>
              <a:t>What the seeded campaign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9352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16 targets across two templates. Replace these figures with your live run during the demonstration.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56816"/>
            <a:ext cx="6253101" cy="27614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87552" y="215798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Segoe UI"/>
              </a:rPr>
              <a:t>OUTCOMES ACROSS ALL CAMPAIGNS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77824" y="2432304"/>
          <a:ext cx="5722749" cy="213969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83343" y="1956816"/>
            <a:ext cx="4349983" cy="896112"/>
          </a:xfrm>
          <a:prstGeom prst="roundRect">
            <a:avLst>
              <a:gd name="adj" fmla="val 45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57663" y="209397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C2626"/>
                </a:solidFill>
                <a:latin typeface="Segoe UI"/>
              </a:rPr>
              <a:t>18.8%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0975" y="2084832"/>
            <a:ext cx="2429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D1424"/>
                </a:solidFill>
                <a:latin typeface="Segoe UI"/>
              </a:rPr>
              <a:t>submitted credentials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975" y="2322576"/>
            <a:ext cx="2429743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3 of 16 targets handed over a username and password — in a real incident that is 3 compromised accounts.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3343" y="2962656"/>
            <a:ext cx="4349983" cy="896112"/>
          </a:xfrm>
          <a:prstGeom prst="roundRect">
            <a:avLst>
              <a:gd name="adj" fmla="val 4500"/>
            </a:avLst>
          </a:prstGeom>
          <a:solidFill>
            <a:srgbClr val="F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57663" y="309981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97706"/>
                </a:solidFill>
                <a:latin typeface="Segoe UI"/>
              </a:rPr>
              <a:t>31.2%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0975" y="3090672"/>
            <a:ext cx="2429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D1424"/>
                </a:solidFill>
                <a:latin typeface="Segoe UI"/>
              </a:rPr>
              <a:t>clicked the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0975" y="3328416"/>
            <a:ext cx="2429743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Curiosity beat caution. The HR bonus lure performed best on Finance and Sales.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3343" y="3968496"/>
            <a:ext cx="4349983" cy="896112"/>
          </a:xfrm>
          <a:prstGeom prst="roundRect">
            <a:avLst>
              <a:gd name="adj" fmla="val 4500"/>
            </a:avLst>
          </a:prstGeom>
          <a:solidFill>
            <a:srgbClr val="E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57663" y="410565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59669"/>
                </a:solidFill>
                <a:latin typeface="Segoe UI"/>
              </a:rPr>
              <a:t>6.2%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0975" y="4096511"/>
            <a:ext cx="2429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D1424"/>
                </a:solidFill>
                <a:latin typeface="Segoe UI"/>
              </a:rPr>
              <a:t>reported the 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0975" y="4334256"/>
            <a:ext cx="2429743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Only one employee alerted IT. This is the weakest number in the whole study.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084064"/>
            <a:ext cx="10874959" cy="1005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50292" cy="7132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266944"/>
            <a:ext cx="102348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1424"/>
                </a:solidFill>
                <a:latin typeface="Segoe UI"/>
              </a:rPr>
              <a:t>Conclusion from the data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Awareness alone did not prevent credential submission, but reporting behaviour is measurably improvable — which is exactly what the second campaign and the quiz are designed to test.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36792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6428232"/>
            <a:ext cx="103263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Phishing Susceptibility Study  ·  Group No. 2  ·  Cyber Security Mini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84687" y="64282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6636"/>
            <a:ext cx="173736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059669"/>
                </a:solidFill>
                <a:latin typeface="Segoe UI"/>
              </a:rPr>
              <a:t>ETHICS &amp;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424"/>
                </a:solidFill>
                <a:latin typeface="Segoe UI"/>
              </a:rPr>
              <a:t>Safe by design, not safe by accident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9352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A phishing tool is only acceptable in an educational setting under strict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56816"/>
            <a:ext cx="2554147" cy="192024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32688" y="2212848"/>
            <a:ext cx="457200" cy="457200"/>
          </a:xfrm>
          <a:prstGeom prst="ellipse">
            <a:avLst/>
          </a:prstGeom>
          <a:solidFill>
            <a:srgbClr val="E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59669"/>
                </a:solidFill>
                <a:latin typeface="Segoe UI"/>
              </a:rPr>
              <a:t>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98064"/>
            <a:ext cx="200550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1424"/>
                </a:solidFill>
                <a:latin typeface="Segoe UI"/>
              </a:rPr>
              <a:t>Written consent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45536"/>
            <a:ext cx="200550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Participants are told it is a study before it starts, and results are never used for punishment or appraisal.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1971" y="1956816"/>
            <a:ext cx="2554147" cy="192024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706291" y="2212848"/>
            <a:ext cx="457200" cy="457200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06291" y="23225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F46E5"/>
                </a:solidFill>
                <a:latin typeface="Segoe UI"/>
              </a:rPr>
              <a:t>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6291" y="2798064"/>
            <a:ext cx="200550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1424"/>
                </a:solidFill>
                <a:latin typeface="Segoe UI"/>
              </a:rPr>
              <a:t>Fictional data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6291" y="3145536"/>
            <a:ext cx="200550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Every employee, mailbox and campaign is invented. No real names, no real addresses, no real passwords are ever stored.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5575" y="1956816"/>
            <a:ext cx="2554147" cy="192024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79895" y="2212848"/>
            <a:ext cx="457200" cy="457200"/>
          </a:xfrm>
          <a:prstGeom prst="ellipse">
            <a:avLst/>
          </a:prstGeom>
          <a:solidFill>
            <a:srgbClr val="F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79895" y="23225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Segoe UI"/>
              </a:rPr>
              <a:t>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9895" y="2798064"/>
            <a:ext cx="200550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1424"/>
                </a:solidFill>
                <a:latin typeface="Segoe UI"/>
              </a:rPr>
              <a:t>No real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3145536"/>
            <a:ext cx="200550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The 'malicious' email and login page exist only inside this app on localhost. Nothing is sent to anybody.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179" y="1956816"/>
            <a:ext cx="2554147" cy="192024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253499" y="2212848"/>
            <a:ext cx="457200" cy="457200"/>
          </a:xfrm>
          <a:prstGeom prst="ellipse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53499" y="23225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C2626"/>
                </a:solidFill>
                <a:latin typeface="Segoe UI"/>
              </a:rPr>
              <a:t>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499" y="2798064"/>
            <a:ext cx="200550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1424"/>
                </a:solidFill>
                <a:latin typeface="Segoe UI"/>
              </a:rPr>
              <a:t>Immediate debrief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499" y="3145536"/>
            <a:ext cx="200550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Anyone who falls for the simulation is shown the red flags straight away, and the red-flag panel is available inside every email.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041648"/>
            <a:ext cx="6688099" cy="1938528"/>
          </a:xfrm>
          <a:prstGeom prst="roundRect">
            <a:avLst>
              <a:gd name="adj" fmla="val 4500"/>
            </a:avLst>
          </a:prstGeom>
          <a:solidFill>
            <a:srgbClr val="0D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42415" y="4261104"/>
            <a:ext cx="5920003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Limitations we acknowledge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0">
                <a:solidFill>
                  <a:srgbClr val="B6C2D9"/>
                </a:solidFill>
                <a:latin typeface="Segoe UI"/>
              </a:rPr>
              <a:t>•   A self-selected group of 8 fictional employees is not a statistically valid workforce sample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B6C2D9"/>
                </a:solidFill>
                <a:latin typeface="Segoe UI"/>
              </a:rPr>
              <a:t>•   No real email headers, SPF/DKIM failures or malicious attachments are modelled yet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B6C2D9"/>
                </a:solidFill>
                <a:latin typeface="Segoe UI"/>
              </a:rPr>
              <a:t>•   Only email phishing — no SMS, QR-code or voice-call (smishing / vishing) variants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18341" y="4041648"/>
            <a:ext cx="3914985" cy="1938528"/>
          </a:xfrm>
          <a:prstGeom prst="roundRect">
            <a:avLst>
              <a:gd name="adj" fmla="val 4500"/>
            </a:avLst>
          </a:prstGeom>
          <a:solidFill>
            <a:srgbClr val="FDECEC"/>
          </a:solidFill>
          <a:ln w="12700">
            <a:solidFill>
              <a:srgbClr val="F7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947525" y="4261104"/>
            <a:ext cx="3256617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11D1D"/>
                </a:solidFill>
                <a:latin typeface="Segoe UI"/>
              </a:rPr>
              <a:t>If this were deployed for real</a:t>
            </a:r>
          </a:p>
          <a:p>
            <a:pPr algn="l">
              <a:lnSpc>
                <a:spcPct val="13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0">
                <a:solidFill>
                  <a:srgbClr val="7F1D1D"/>
                </a:solidFill>
                <a:latin typeface="Segoe UI"/>
              </a:rPr>
              <a:t>It would require written authorisation from management, a privacy-impact assessment, guaranteed non-punitive reporting, and a debrief session for every participant.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36792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6428232"/>
            <a:ext cx="103263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Phishing Susceptibility Study  ·  Group No. 2  ·  Cyber Security Mini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84687" y="64282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509760" y="3749039"/>
            <a:ext cx="4937760" cy="4937760"/>
          </a:xfrm>
          <a:prstGeom prst="ellipse">
            <a:avLst/>
          </a:prstGeom>
          <a:solidFill>
            <a:srgbClr val="1A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58368" y="516636"/>
            <a:ext cx="173736" cy="50292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4480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A5B4FC"/>
                </a:solidFill>
                <a:latin typeface="Segoe U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9264"/>
            <a:ext cx="8595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Measure it. Train it. Repeat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92224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6C2D9"/>
                </a:solidFill>
                <a:latin typeface="Segoe UI"/>
              </a:rPr>
              <a:t>Our study showed that even careful employees fall for a convincing phish — but every report and every correct quiz answer moves the number.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98064"/>
            <a:ext cx="3478682" cy="1335024"/>
          </a:xfrm>
          <a:prstGeom prst="roundRect">
            <a:avLst>
              <a:gd name="adj" fmla="val 6000"/>
            </a:avLst>
          </a:prstGeom>
          <a:solidFill>
            <a:srgbClr val="1A243D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2980944"/>
            <a:ext cx="28568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DC2626"/>
                </a:solidFill>
                <a:latin typeface="Segoe UI"/>
              </a:rPr>
              <a:t>18.8%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493008"/>
            <a:ext cx="285689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PHISHED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767328"/>
            <a:ext cx="28568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8B0"/>
                </a:solidFill>
                <a:latin typeface="Segoe UI"/>
              </a:rPr>
              <a:t>Baseline measured on 16 targets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6506" y="2798064"/>
            <a:ext cx="3478682" cy="1335024"/>
          </a:xfrm>
          <a:prstGeom prst="roundRect">
            <a:avLst>
              <a:gd name="adj" fmla="val 6000"/>
            </a:avLst>
          </a:prstGeom>
          <a:solidFill>
            <a:srgbClr val="1A243D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67402" y="2980944"/>
            <a:ext cx="28568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D97706"/>
                </a:solidFill>
                <a:latin typeface="Segoe UI"/>
              </a:rPr>
              <a:t>6.2%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402" y="3493008"/>
            <a:ext cx="285689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REPORTED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402" y="3767328"/>
            <a:ext cx="28568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8B0"/>
                </a:solidFill>
                <a:latin typeface="Segoe UI"/>
              </a:rPr>
              <a:t>The number training must raise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4644" y="2798064"/>
            <a:ext cx="3478682" cy="1335024"/>
          </a:xfrm>
          <a:prstGeom prst="roundRect">
            <a:avLst>
              <a:gd name="adj" fmla="val 6000"/>
            </a:avLst>
          </a:prstGeom>
          <a:solidFill>
            <a:srgbClr val="1A243D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65540" y="2980944"/>
            <a:ext cx="28568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59669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5540" y="3493008"/>
            <a:ext cx="285689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RED FLAGS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5540" y="3767328"/>
            <a:ext cx="28568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8B0"/>
                </a:solidFill>
                <a:latin typeface="Segoe UI"/>
              </a:rPr>
              <a:t>Taught, quizzed and reinforced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43984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5B4FC"/>
                </a:solidFill>
                <a:latin typeface="Segoe UI"/>
              </a:rPr>
              <a:t>Next steps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B6C2D9"/>
                </a:solidFill>
                <a:latin typeface="Segoe UI"/>
              </a:rPr>
              <a:t>Repeat the campaign after training to prove the submission rate drops  ·  add SMS and QR-code phishing variants  ·  track MFA adoption as a second metric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541264"/>
            <a:ext cx="10874959" cy="18288"/>
          </a:xfrm>
          <a:prstGeom prst="rect">
            <a:avLst/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5742432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5B4FC"/>
                </a:solidFill>
                <a:latin typeface="Segoe UI"/>
              </a:rPr>
              <a:t>Live demo:  python3 app.py  →  http://127.0.0.1:8000</a:t>
            </a:r>
          </a:p>
          <a:p>
            <a:pPr algn="l">
              <a:lnSpc>
                <a:spcPct val="124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7C8AA3"/>
                </a:solidFill>
                <a:latin typeface="Segoe UI"/>
              </a:rPr>
              <a:t>Thank you — questions welcome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5727" y="57972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GROUP NO. 2</a:t>
            </a:r>
          </a:p>
          <a:p>
            <a:pPr algn="r">
              <a:lnSpc>
                <a:spcPct val="124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7C8AA3"/>
                </a:solidFill>
                <a:latin typeface="Segoe UI"/>
              </a:rPr>
              <a:t>Cyber Security Mini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